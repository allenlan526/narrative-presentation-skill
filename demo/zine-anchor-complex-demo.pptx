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2a292135a34f1d" /><Relationship Type="http://schemas.openxmlformats.org/officeDocument/2006/relationships/extended-properties" Target="/docProps/app.xml" Id="R70792cb43e98479e" /><Relationship Type="http://schemas.openxmlformats.org/officeDocument/2006/relationships/officeDocument" Target="/ppt/presentation.xml" Id="Rde9bfc269cab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b7cddf29c4d36"/>
  </p:sldMasterIdLst>
  <p:notesMasterIdLst>
    <p:notesMasterId xmlns:r="http://schemas.openxmlformats.org/officeDocument/2006/relationships" r:id="R4d989d7f5df84f57"/>
  </p:notesMasterIdLst>
  <p:sldIdLst>
    <p:sldId xmlns:r="http://schemas.openxmlformats.org/officeDocument/2006/relationships" id="256" r:id="Rbd669f3ca6f84d8f"/>
    <p:sldId xmlns:r="http://schemas.openxmlformats.org/officeDocument/2006/relationships" id="257" r:id="Rca488cfd0c7b4ba7"/>
    <p:sldId xmlns:r="http://schemas.openxmlformats.org/officeDocument/2006/relationships" id="258" r:id="Rd2e7aed448254388"/>
    <p:sldId xmlns:r="http://schemas.openxmlformats.org/officeDocument/2006/relationships" id="259" r:id="R5d4913aaf7834de0"/>
    <p:sldId xmlns:r="http://schemas.openxmlformats.org/officeDocument/2006/relationships" id="260" r:id="Rf5875d7c139f4bb6"/>
    <p:sldId xmlns:r="http://schemas.openxmlformats.org/officeDocument/2006/relationships" id="261" r:id="R1fcfdd30d8d94af6"/>
    <p:sldId xmlns:r="http://schemas.openxmlformats.org/officeDocument/2006/relationships" id="262" r:id="R6d31d486e0244690"/>
    <p:sldId xmlns:r="http://schemas.openxmlformats.org/officeDocument/2006/relationships" id="263" r:id="R956e963cea3d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d97db4d8754a82" /><Relationship Type="http://schemas.openxmlformats.org/officeDocument/2006/relationships/slideMaster" Target="/ppt/slideMasters/slideMaster1.xml" Id="R52cb7cddf29c4d36" /><Relationship Type="http://schemas.openxmlformats.org/officeDocument/2006/relationships/notesMaster" Target="/ppt/notesMasters/notesMaster1.xml" Id="R4d989d7f5df84f57" /><Relationship Type="http://schemas.openxmlformats.org/officeDocument/2006/relationships/presProps" Target="/ppt/presProps.xml" Id="Re3b223fe097f4f8c" /><Relationship Type="http://schemas.openxmlformats.org/officeDocument/2006/relationships/tableStyles" Target="/ppt/tableStyles.xml" Id="Raf4d3f0d67f34623" /><Relationship Type="http://schemas.openxmlformats.org/officeDocument/2006/relationships/slide" Target="/ppt/slides/slide1.xml" Id="Rbd669f3ca6f84d8f" /><Relationship Type="http://schemas.openxmlformats.org/officeDocument/2006/relationships/slide" Target="/ppt/slides/slide2.xml" Id="Rca488cfd0c7b4ba7" /><Relationship Type="http://schemas.openxmlformats.org/officeDocument/2006/relationships/slide" Target="/ppt/slides/slide3.xml" Id="Rd2e7aed448254388" /><Relationship Type="http://schemas.openxmlformats.org/officeDocument/2006/relationships/slide" Target="/ppt/slides/slide4.xml" Id="R5d4913aaf7834de0" /><Relationship Type="http://schemas.openxmlformats.org/officeDocument/2006/relationships/slide" Target="/ppt/slides/slide5.xml" Id="Rf5875d7c139f4bb6" /><Relationship Type="http://schemas.openxmlformats.org/officeDocument/2006/relationships/slide" Target="/ppt/slides/slide6.xml" Id="R1fcfdd30d8d94af6" /><Relationship Type="http://schemas.openxmlformats.org/officeDocument/2006/relationships/slide" Target="/ppt/slides/slide7.xml" Id="R6d31d486e0244690" /><Relationship Type="http://schemas.openxmlformats.org/officeDocument/2006/relationships/slide" Target="/ppt/slides/slide8.xml" Id="R956e963cea3d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d71befee1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d0e2424b24b95" /><Relationship Type="http://schemas.openxmlformats.org/officeDocument/2006/relationships/notesMaster" Target="/ppt/notesMasters/notesMaster1.xml" Id="Rfbf77da1c5a344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990d5a69048a8" /><Relationship Type="http://schemas.openxmlformats.org/officeDocument/2006/relationships/notesMaster" Target="/ppt/notesMasters/notesMaster1.xml" Id="Rfed55cdd2a5542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a49a82b664bd6" /><Relationship Type="http://schemas.openxmlformats.org/officeDocument/2006/relationships/notesMaster" Target="/ppt/notesMasters/notesMaster1.xml" Id="Re87903ca11574b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fc9f09b6454ea2" /><Relationship Type="http://schemas.openxmlformats.org/officeDocument/2006/relationships/notesMaster" Target="/ppt/notesMasters/notesMaster1.xml" Id="R6084ee146b1c41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08fcce44004757" /><Relationship Type="http://schemas.openxmlformats.org/officeDocument/2006/relationships/notesMaster" Target="/ppt/notesMasters/notesMaster1.xml" Id="R470cbaa017104a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dfc5a68e1415e" /><Relationship Type="http://schemas.openxmlformats.org/officeDocument/2006/relationships/notesMaster" Target="/ppt/notesMasters/notesMaster1.xml" Id="R8dc618e93b2c42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698318acaf4c7b" /><Relationship Type="http://schemas.openxmlformats.org/officeDocument/2006/relationships/notesMaster" Target="/ppt/notesMasters/notesMaster1.xml" Id="R6bd96189c7864f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48e63d50d74e96" /><Relationship Type="http://schemas.openxmlformats.org/officeDocument/2006/relationships/notesMaster" Target="/ppt/notesMasters/notesMaster1.xml" Id="R5b1c46c6a3e1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illustration generated with OpenAI image generation for this demonstration.</a:t>
            </a:r>
          </a:p>
          <a:p xmlns:a="http://schemas.openxmlformats.org/drawingml/2006/main">
            <a:r>
              <a:t>No external factual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Reveal s01-scene-a through a left-to-right mask over 0.6 seconds.</a:t>
            </a:r>
          </a:p>
          <a:p xmlns:a="http://schemas.openxmlformats.org/drawingml/2006/main">
            <a:r>
              <a:t>Hold the orange aperture as the visual anchor state: compact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Concept model authored for this demonstration; no external factual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Reveal the four row compartments from top to bottom with 0.12-second overlap.</a:t>
            </a:r>
          </a:p>
          <a:p xmlns:a="http://schemas.openxmlformats.org/drawingml/2006/main">
            <a:r>
              <a:t>The orange seam advances one row at a time; anchor state: reading seam.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three-part illustration generated with OpenAI image generation.</a:t>
            </a:r>
          </a:p>
          <a:p xmlns:a="http://schemas.openxmlformats.org/drawingml/2006/main">
            <a:r>
              <a:t>Each scene is a separate image object and remains independently selectable.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Animate s03-scene-a, then s03-scene-b, then s03-scene-c.</a:t>
            </a:r>
          </a:p>
          <a:p xmlns:a="http://schemas.openxmlformats.org/drawingml/2006/main">
            <a:r>
              <a:t>Entrance: rise 18 px and fade; duration 0.52 seconds each; 0.13-second overlap.</a:t>
            </a:r>
          </a:p>
          <a:p xmlns:a="http://schemas.openxmlformats.org/drawingml/2006/main">
            <a:r>
              <a:t>Reduced-motion equivalent: show all three in final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illustration generated with OpenAI image generation.</a:t>
            </a:r>
          </a:p>
          <a:p xmlns:a="http://schemas.openxmlformats.org/drawingml/2006/main">
            <a:r>
              <a:t>No external factual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Reveal s04-scene-a with a horizontal clip expanding from the orange seam; 0.7 seconds.</a:t>
            </a:r>
          </a:p>
          <a:p xmlns:a="http://schemas.openxmlformats.org/drawingml/2006/main">
            <a:r>
              <a:t>Anchor state: constricted but not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Simulated demonstration data: preserve 64%, redevelop 23%, undecided 13%; not a real survey.</a:t>
            </a:r>
          </a:p>
          <a:p xmlns:a="http://schemas.openxmlformats.org/drawingml/2006/main">
            <a:r>
              <a:t>Chart system: Lieflat Charts L14 Hundred Field, Wire color system. Lieflat Charts was created at Moxt and is distributed by larashero3-dotcom. PolyForm Noncommercial 1.0.0; this is a noncommercial demonstration.</a:t>
            </a:r>
          </a:p>
          <a:p xmlns:a="http://schemas.openxmlformats.org/drawingml/2006/main">
            <a:r>
              <a:t>Template audit: L14 selected; F4 Tick Donut rejected because comparison is slower; L5 radial convergence rejected because it adds relationship geometry absent from the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Reveal marks with the L14 phyllotaxis stagger; preservation cluster first.</a:t>
            </a:r>
          </a:p>
          <a:p xmlns:a="http://schemas.openxmlformats.org/drawingml/2006/main">
            <a:r>
              <a:t>Duration about 0.76 seconds; reduced-motion equivalent shows all marks immediately.</a:t>
            </a:r>
          </a:p>
          <a:p xmlns:a="http://schemas.openxmlformats.org/drawingml/2006/main">
            <a:r>
              <a:t>Companion HTML includes click-to-replay.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Simulated demonstration values: affordable stalls 72, vendor access 61, safer infrastructure 54, maximize footprint 22; not a real ballot.</a:t>
            </a:r>
          </a:p>
          <a:p xmlns:a="http://schemas.openxmlformats.org/drawingml/2006/main">
            <a:r>
              <a:t>Chart system: Lieflat Charts L15 Ballot Tally, Wire color system. Lieflat Charts was created at Moxt and is distributed by larashero3-dotcom. PolyForm Noncommercial 1.0.0; this is a noncommercial demonstration.</a:t>
            </a:r>
          </a:p>
          <a:p xmlns:a="http://schemas.openxmlformats.org/drawingml/2006/main">
            <a:r>
              <a:t>Template audit: L15 selected for explicit vote counting; conventional bar chart rejected because tally accumulation is the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Reveal each ballot row left to right; 0.10-second stagger between rows.</a:t>
            </a:r>
          </a:p>
          <a:p xmlns:a="http://schemas.openxmlformats.org/drawingml/2006/main">
            <a:r>
              <a:t>The orange affordable-stalls row resolves last as the persistent visual anchor.</a:t>
            </a:r>
          </a:p>
          <a:p xmlns:a="http://schemas.openxmlformats.org/drawingml/2006/main">
            <a:r>
              <a:t>Companion HTML includes click-to-replay and reduced-motion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Decision framework authored for this demonstration; no external factual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Reveal the three station compartments in sequence: rhythm, access, adaptation.</a:t>
            </a:r>
          </a:p>
          <a:p xmlns:a="http://schemas.openxmlformats.org/drawingml/2006/main">
            <a:r>
              <a:t>Draw the orange anchor path only after all body text has settled; keep it below the text reserve.</a:t>
            </a:r>
          </a:p>
          <a:p xmlns:a="http://schemas.openxmlformats.org/drawingml/2006/main">
            <a:r>
              <a:t>Reduced-motion equivalent: show the complete rule and path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Zine visual direction: Zeejay0.</a:t>
            </a:r>
          </a:p>
          <a:p xmlns:a="http://schemas.openxmlformats.org/drawingml/2006/main">
            <a:r>
              <a:t>Lieflat Charts: created at Moxt, distributed by larashero3-dotcom; PolyForm Noncommercial 1.0.0.</a:t>
            </a:r>
          </a:p>
          <a:p xmlns:a="http://schemas.openxmlformats.org/drawingml/2006/main">
            <a:r>
              <a:t>OpenAI Presentations and OpenAI image generation used for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[Animation cues — static PPTX fallback]</a:t>
            </a:r>
          </a:p>
          <a:p xmlns:a="http://schemas.openxmlformats.org/drawingml/2006/main">
            <a:r>
              <a:t>Soft reveal of s08-scene-a over 0.6 seconds.</a:t>
            </a:r>
          </a:p>
          <a:p xmlns:a="http://schemas.openxmlformats.org/drawingml/2006/main">
            <a:r>
              <a:t>Anchor state: the orange threshold opens into a stable passage.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[Motion status]</a:t>
            </a:r>
          </a:p>
          <a:p xmlns:a="http://schemas.openxmlformats.org/drawingml/2006/main">
            <a:r>
              <a:t>Objects are independently selectable, but this PPTX intentionally contains no claimed native timing tree. Use the cues above or the companion HTML for verified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d26c47e6148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b7af16941643cb" /><Relationship Type="http://schemas.openxmlformats.org/officeDocument/2006/relationships/slideLayout" Target="/ppt/slideLayouts/slideLayout1.xml" Id="R015bc1e8d05c48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bc1e8d05c48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a090d464e469d" /><Relationship Type="http://schemas.openxmlformats.org/officeDocument/2006/relationships/image" Target="/ppt/media/image.png" Id="R8392be41c2034d5b" /><Relationship Type="http://schemas.openxmlformats.org/officeDocument/2006/relationships/notesSlide" Target="/ppt/notesSlides/notesSlide1.xml" Id="R3b470387e45d4e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b38b59a7842a3" /><Relationship Type="http://schemas.openxmlformats.org/officeDocument/2006/relationships/notesSlide" Target="/ppt/notesSlides/notesSlide2.xml" Id="R42b835a4ab934f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a8e5508d746c9" /><Relationship Type="http://schemas.openxmlformats.org/officeDocument/2006/relationships/image" Target="/ppt/media/image2.png" Id="Rc5744e15a1cb463f" /><Relationship Type="http://schemas.openxmlformats.org/officeDocument/2006/relationships/image" Target="/ppt/media/image3.png" Id="Rb6ef7f7ec7974113" /><Relationship Type="http://schemas.openxmlformats.org/officeDocument/2006/relationships/image" Target="/ppt/media/image4.png" Id="Rdd6e5afa92404916" /><Relationship Type="http://schemas.openxmlformats.org/officeDocument/2006/relationships/notesSlide" Target="/ppt/notesSlides/notesSlide3.xml" Id="R8e98712c6ec1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99a5c579d4c65" /><Relationship Type="http://schemas.openxmlformats.org/officeDocument/2006/relationships/image" Target="/ppt/media/image5.png" Id="R30598d93f54a4cbd" /><Relationship Type="http://schemas.openxmlformats.org/officeDocument/2006/relationships/notesSlide" Target="/ppt/notesSlides/notesSlide4.xml" Id="Re6d521b7552a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5e14ebdf94ad0" /><Relationship Type="http://schemas.openxmlformats.org/officeDocument/2006/relationships/image" Target="/ppt/media/image6.png" Id="Rb8b4e2e414d74210" /><Relationship Type="http://schemas.openxmlformats.org/officeDocument/2006/relationships/notesSlide" Target="/ppt/notesSlides/notesSlide5.xml" Id="R213e280a3fb94b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ad2e3603c4c1d" /><Relationship Type="http://schemas.openxmlformats.org/officeDocument/2006/relationships/image" Target="/ppt/media/image7.png" Id="R5e6a7992540a4b4a" /><Relationship Type="http://schemas.openxmlformats.org/officeDocument/2006/relationships/notesSlide" Target="/ppt/notesSlides/notesSlide6.xml" Id="R36ea179ad148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e20331b4b40e7" /><Relationship Type="http://schemas.openxmlformats.org/officeDocument/2006/relationships/notesSlide" Target="/ppt/notesSlides/notesSlide7.xml" Id="R978048e6653a41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25d2c7ec3485c" /><Relationship Type="http://schemas.openxmlformats.org/officeDocument/2006/relationships/image" Target="/ppt/media/image8.png" Id="R90211a01d4844ebc" /><Relationship Type="http://schemas.openxmlformats.org/officeDocument/2006/relationships/notesSlide" Target="/ppt/notesSlides/notesSlide8.xml" Id="Rbf650775e16d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s01-scene-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2be41c2034d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01-copy-field">
            <a:extLst xmlns:a="http://schemas.openxmlformats.org/drawingml/2006/main">
              <a:ext uri="{FF2B5EF4-FFF2-40B4-BE49-F238E27FC236}">
                <a16:creationId xmlns:a16="http://schemas.microsoft.com/office/drawing/2014/main" id="{F7647A0D-318E-4CBA-BD40-72D60F28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2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01-eyebrow">
            <a:extLst xmlns:a="http://schemas.openxmlformats.org/drawingml/2006/main">
              <a:ext uri="{FF2B5EF4-FFF2-40B4-BE49-F238E27FC236}">
                <a16:creationId xmlns:a16="http://schemas.microsoft.com/office/drawing/2014/main" id="{374540C5-DC87-43A4-96B1-B3AE8F8B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8F8E86"/>
                </a:solidFill>
              </a:defRPr>
            </a:pPr>
            <a:r>
              <a:rPr sz="900" b="1" spc="2">
                <a:solidFill>
                  <a:srgbClr val="8F8E86"/>
                </a:solidFill>
              </a:rPr>
              <a:t>A COMPLEX ZINE-ANCHOR DEMONSTRATION</a:t>
            </a:r>
          </a:p>
        </p:txBody>
      </p:sp>
      <p:sp>
        <p:nvSpPr>
          <p:cNvPr id="4" name="s01-title">
            <a:extLst xmlns:a="http://schemas.openxmlformats.org/drawingml/2006/main">
              <a:ext uri="{FF2B5EF4-FFF2-40B4-BE49-F238E27FC236}">
                <a16:creationId xmlns:a16="http://schemas.microsoft.com/office/drawing/2014/main" id="{1F1F8359-FA49-4642-9A08-58C70F2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38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1E1C"/>
                </a:solidFill>
              </a:defRPr>
            </a:pPr>
            <a:r>
              <a:rPr sz="4350" b="1">
                <a:solidFill>
                  <a:srgbClr val="1F1E1C"/>
                </a:solidFill>
              </a:rPr>
              <a:t>Memory is</a:t>
            </a:r>
          </a:p>
          <a:p xmlns:a="http://schemas.openxmlformats.org/drawingml/2006/main">
            <a:pPr>
              <a:defRPr sz="4350" b="1">
                <a:solidFill>
                  <a:srgbClr val="1F1E1C"/>
                </a:solidFill>
              </a:defRPr>
            </a:pPr>
            <a:r>
              <a:rPr sz="4350" b="1">
                <a:solidFill>
                  <a:srgbClr val="1F1E1C"/>
                </a:solidFill>
              </a:rPr>
              <a:t>infrastructure</a:t>
            </a:r>
          </a:p>
        </p:txBody>
      </p:sp>
      <p:sp>
        <p:nvSpPr>
          <p:cNvPr id="5" name="s01-subtitle">
            <a:extLst xmlns:a="http://schemas.openxmlformats.org/drawingml/2006/main">
              <a:ext uri="{FF2B5EF4-FFF2-40B4-BE49-F238E27FC236}">
                <a16:creationId xmlns:a16="http://schemas.microsoft.com/office/drawing/2014/main" id="{9FE7D0B0-2015-4CE4-BC86-27C93A3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F4E49"/>
                </a:solidFill>
              </a:defRPr>
            </a:pPr>
            <a:r>
              <a:rPr sz="1650">
                <a:solidFill>
                  <a:srgbClr val="4F4E49"/>
                </a:solidFill>
              </a:rPr>
              <a:t>A market is remembered through patterns—not monuments.</a:t>
            </a:r>
          </a:p>
        </p:txBody>
      </p:sp>
      <p:sp>
        <p:nvSpPr>
          <p:cNvPr id="6" name="s01-anchor-chip">
            <a:extLst xmlns:a="http://schemas.openxmlformats.org/drawingml/2006/main">
              <a:ext uri="{FF2B5EF4-FFF2-40B4-BE49-F238E27FC236}">
                <a16:creationId xmlns:a16="http://schemas.microsoft.com/office/drawing/2014/main" id="{25787731-7FC1-4A5B-A2F8-485C4E84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01-deck-name">
            <a:extLst xmlns:a="http://schemas.openxmlformats.org/drawingml/2006/main">
              <a:ext uri="{FF2B5EF4-FFF2-40B4-BE49-F238E27FC236}">
                <a16:creationId xmlns:a16="http://schemas.microsoft.com/office/drawing/2014/main" id="{24A1253D-1264-4CE8-9644-4561146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1E1C"/>
                </a:solidFill>
              </a:defRPr>
            </a:pPr>
            <a:r>
              <a:rPr sz="825" b="1" spc="1">
                <a:solidFill>
                  <a:srgbClr val="1F1E1C"/>
                </a:solidFill>
              </a:rPr>
              <a:t>THE THRESHOLD AS A LIVING SYSTEM</a:t>
            </a:r>
          </a:p>
        </p:txBody>
      </p:sp>
      <p:sp>
        <p:nvSpPr>
          <p:cNvPr id="8" name="page-number-contrast-field">
            <a:extLst xmlns:a="http://schemas.openxmlformats.org/drawingml/2006/main">
              <a:ext uri="{FF2B5EF4-FFF2-40B4-BE49-F238E27FC236}">
                <a16:creationId xmlns:a16="http://schemas.microsoft.com/office/drawing/2014/main" id="{C07669D5-A2AB-4951-89DB-644F9EF1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D1D0CA"/>
            </a:solidFill>
            <a:prstDash val="solid"/>
          </a:ln>
        </p:spPr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7D6FA4-ED54-45AE-98D8-24D56ED3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429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1F1E1C"/>
                </a:solidFill>
              </a:defRPr>
            </a:pPr>
            <a:r>
              <a:rPr sz="825" b="1" spc="1">
                <a:solidFill>
                  <a:srgbClr val="1F1E1C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367061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97781A06-383B-4132-936A-00F2EBC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A PATTERN HAS LAYERS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73D946-9B6B-4529-B56F-47EE1E5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02 / 08</a:t>
            </a:r>
          </a:p>
        </p:txBody>
      </p:sp>
      <p:sp>
        <p:nvSpPr>
          <p:cNvPr id="3" name="s02-title">
            <a:extLst xmlns:a="http://schemas.openxmlformats.org/drawingml/2006/main">
              <a:ext uri="{FF2B5EF4-FFF2-40B4-BE49-F238E27FC236}">
                <a16:creationId xmlns:a16="http://schemas.microsoft.com/office/drawing/2014/main" id="{ACF61A38-DB45-4627-B835-36A67A50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1E1C"/>
                </a:solidFill>
              </a:defRPr>
            </a:pPr>
            <a:r>
              <a:rPr sz="3150" b="1">
                <a:solidFill>
                  <a:srgbClr val="1F1E1C"/>
                </a:solidFill>
              </a:rPr>
              <a:t>Four layers make the pattern legible</a:t>
            </a:r>
          </a:p>
        </p:txBody>
      </p:sp>
      <p:sp>
        <p:nvSpPr>
          <p:cNvPr id="4" name="s02-row-01-rule">
            <a:extLst xmlns:a="http://schemas.openxmlformats.org/drawingml/2006/main">
              <a:ext uri="{FF2B5EF4-FFF2-40B4-BE49-F238E27FC236}">
                <a16:creationId xmlns:a16="http://schemas.microsoft.com/office/drawing/2014/main" id="{829B0B9E-18BE-4754-B162-45EEE63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02-row-01-number">
            <a:extLst xmlns:a="http://schemas.openxmlformats.org/drawingml/2006/main">
              <a:ext uri="{FF2B5EF4-FFF2-40B4-BE49-F238E27FC236}">
                <a16:creationId xmlns:a16="http://schemas.microsoft.com/office/drawing/2014/main" id="{14B2696F-747C-4D75-849E-78C49DBC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504F4B"/>
                </a:solidFill>
              </a:defRPr>
            </a:pPr>
            <a:r>
              <a:rPr sz="900" b="1" spc="1">
                <a:solidFill>
                  <a:srgbClr val="504F4B"/>
                </a:solidFill>
              </a:rPr>
              <a:t>01</a:t>
            </a:r>
          </a:p>
        </p:txBody>
      </p:sp>
      <p:sp>
        <p:nvSpPr>
          <p:cNvPr id="6" name="s02-row-01-kind">
            <a:extLst xmlns:a="http://schemas.openxmlformats.org/drawingml/2006/main">
              <a:ext uri="{FF2B5EF4-FFF2-40B4-BE49-F238E27FC236}">
                <a16:creationId xmlns:a16="http://schemas.microsoft.com/office/drawing/2014/main" id="{645300A0-6657-452D-8468-9786968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193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1F1E1C"/>
                </a:solidFill>
              </a:defRPr>
            </a:pPr>
            <a:r>
              <a:rPr sz="975" b="1" spc="1">
                <a:solidFill>
                  <a:srgbClr val="1F1E1C"/>
                </a:solidFill>
              </a:rPr>
              <a:t>OBJECTS</a:t>
            </a:r>
          </a:p>
        </p:txBody>
      </p:sp>
      <p:sp>
        <p:nvSpPr>
          <p:cNvPr id="7" name="s02-row-01-anchor">
            <a:extLst xmlns:a="http://schemas.openxmlformats.org/drawingml/2006/main">
              <a:ext uri="{FF2B5EF4-FFF2-40B4-BE49-F238E27FC236}">
                <a16:creationId xmlns:a16="http://schemas.microsoft.com/office/drawing/2014/main" id="{C8188698-1C13-4C87-8BB6-2A121DC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66950"/>
            <a:ext cx="32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02-row-01-title">
            <a:extLst xmlns:a="http://schemas.openxmlformats.org/drawingml/2006/main">
              <a:ext uri="{FF2B5EF4-FFF2-40B4-BE49-F238E27FC236}">
                <a16:creationId xmlns:a16="http://schemas.microsoft.com/office/drawing/2014/main" id="{F5EC052D-52B8-4746-B8D9-D7D448B3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1E1C"/>
                </a:solidFill>
              </a:defRPr>
            </a:pPr>
            <a:r>
              <a:rPr sz="1950" b="1">
                <a:solidFill>
                  <a:srgbClr val="1F1E1C"/>
                </a:solidFill>
              </a:rPr>
              <a:t>Stalls, tarps, tools, signs</a:t>
            </a:r>
          </a:p>
        </p:txBody>
      </p:sp>
      <p:sp>
        <p:nvSpPr>
          <p:cNvPr id="9" name="s02-row-01-desc">
            <a:extLst xmlns:a="http://schemas.openxmlformats.org/drawingml/2006/main">
              <a:ext uri="{FF2B5EF4-FFF2-40B4-BE49-F238E27FC236}">
                <a16:creationId xmlns:a16="http://schemas.microsoft.com/office/drawing/2014/main" id="{360EECFA-2063-4CCA-B794-78060A86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62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44F"/>
                </a:solidFill>
              </a:defRPr>
            </a:pPr>
            <a:r>
              <a:rPr sz="1200">
                <a:solidFill>
                  <a:srgbClr val="55544F"/>
                </a:solidFill>
              </a:rPr>
              <a:t>The visible kit of everyday trade.</a:t>
            </a:r>
          </a:p>
        </p:txBody>
      </p:sp>
      <p:sp>
        <p:nvSpPr>
          <p:cNvPr id="10" name="s02-row-02-rule">
            <a:extLst xmlns:a="http://schemas.openxmlformats.org/drawingml/2006/main">
              <a:ext uri="{FF2B5EF4-FFF2-40B4-BE49-F238E27FC236}">
                <a16:creationId xmlns:a16="http://schemas.microsoft.com/office/drawing/2014/main" id="{5A574537-6F5E-4713-AA31-AF233E62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02-row-02-number">
            <a:extLst xmlns:a="http://schemas.openxmlformats.org/drawingml/2006/main">
              <a:ext uri="{FF2B5EF4-FFF2-40B4-BE49-F238E27FC236}">
                <a16:creationId xmlns:a16="http://schemas.microsoft.com/office/drawing/2014/main" id="{B07F65DC-C228-4954-AFE7-897DEBE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504F4B"/>
                </a:solidFill>
              </a:defRPr>
            </a:pPr>
            <a:r>
              <a:rPr sz="900" b="1" spc="1">
                <a:solidFill>
                  <a:srgbClr val="504F4B"/>
                </a:solidFill>
              </a:rPr>
              <a:t>02</a:t>
            </a:r>
          </a:p>
        </p:txBody>
      </p:sp>
      <p:sp>
        <p:nvSpPr>
          <p:cNvPr id="12" name="s02-row-02-kind">
            <a:extLst xmlns:a="http://schemas.openxmlformats.org/drawingml/2006/main">
              <a:ext uri="{FF2B5EF4-FFF2-40B4-BE49-F238E27FC236}">
                <a16:creationId xmlns:a16="http://schemas.microsoft.com/office/drawing/2014/main" id="{51FEB8EB-0E67-47C9-836B-6C9643AA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1F1E1C"/>
                </a:solidFill>
              </a:defRPr>
            </a:pPr>
            <a:r>
              <a:rPr sz="975" b="1" spc="1">
                <a:solidFill>
                  <a:srgbClr val="1F1E1C"/>
                </a:solidFill>
              </a:rPr>
              <a:t>RITUALS</a:t>
            </a:r>
          </a:p>
        </p:txBody>
      </p:sp>
      <p:sp>
        <p:nvSpPr>
          <p:cNvPr id="13" name="s02-row-02-anchor">
            <a:extLst xmlns:a="http://schemas.openxmlformats.org/drawingml/2006/main">
              <a:ext uri="{FF2B5EF4-FFF2-40B4-BE49-F238E27FC236}">
                <a16:creationId xmlns:a16="http://schemas.microsoft.com/office/drawing/2014/main" id="{23EE0EB0-5FD5-4D0B-950E-43E59F22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67075"/>
            <a:ext cx="32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02-row-02-title">
            <a:extLst xmlns:a="http://schemas.openxmlformats.org/drawingml/2006/main">
              <a:ext uri="{FF2B5EF4-FFF2-40B4-BE49-F238E27FC236}">
                <a16:creationId xmlns:a16="http://schemas.microsoft.com/office/drawing/2014/main" id="{D63956BF-EABB-4576-8C5D-147D8E6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1E1C"/>
                </a:solidFill>
              </a:defRPr>
            </a:pPr>
            <a:r>
              <a:rPr sz="1950" b="1">
                <a:solidFill>
                  <a:srgbClr val="1F1E1C"/>
                </a:solidFill>
              </a:rPr>
              <a:t>Opening, exchange, pause</a:t>
            </a:r>
          </a:p>
        </p:txBody>
      </p:sp>
      <p:sp>
        <p:nvSpPr>
          <p:cNvPr id="15" name="s02-row-02-desc">
            <a:extLst xmlns:a="http://schemas.openxmlformats.org/drawingml/2006/main">
              <a:ext uri="{FF2B5EF4-FFF2-40B4-BE49-F238E27FC236}">
                <a16:creationId xmlns:a16="http://schemas.microsoft.com/office/drawing/2014/main" id="{DD7BD658-56E8-4118-81CB-4703A831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44F"/>
                </a:solidFill>
              </a:defRPr>
            </a:pPr>
            <a:r>
              <a:rPr sz="1200">
                <a:solidFill>
                  <a:srgbClr val="55544F"/>
                </a:solidFill>
              </a:rPr>
              <a:t>Sequences that make use recognizable.</a:t>
            </a:r>
          </a:p>
        </p:txBody>
      </p:sp>
      <p:sp>
        <p:nvSpPr>
          <p:cNvPr id="16" name="s02-row-03-rule">
            <a:extLst xmlns:a="http://schemas.openxmlformats.org/drawingml/2006/main">
              <a:ext uri="{FF2B5EF4-FFF2-40B4-BE49-F238E27FC236}">
                <a16:creationId xmlns:a16="http://schemas.microsoft.com/office/drawing/2014/main" id="{41A8DC13-E621-4AE5-8966-21EF45E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02-row-03-number">
            <a:extLst xmlns:a="http://schemas.openxmlformats.org/drawingml/2006/main">
              <a:ext uri="{FF2B5EF4-FFF2-40B4-BE49-F238E27FC236}">
                <a16:creationId xmlns:a16="http://schemas.microsoft.com/office/drawing/2014/main" id="{A76BF3B0-D990-48BA-A5EC-CAAFDDC1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504F4B"/>
                </a:solidFill>
              </a:defRPr>
            </a:pPr>
            <a:r>
              <a:rPr sz="900" b="1" spc="1">
                <a:solidFill>
                  <a:srgbClr val="504F4B"/>
                </a:solidFill>
              </a:rPr>
              <a:t>03</a:t>
            </a:r>
          </a:p>
        </p:txBody>
      </p:sp>
      <p:sp>
        <p:nvSpPr>
          <p:cNvPr id="18" name="s02-row-03-kind">
            <a:extLst xmlns:a="http://schemas.openxmlformats.org/drawingml/2006/main">
              <a:ext uri="{FF2B5EF4-FFF2-40B4-BE49-F238E27FC236}">
                <a16:creationId xmlns:a16="http://schemas.microsoft.com/office/drawing/2014/main" id="{BBD46B0A-1F45-433F-AE48-D812AF4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1F1E1C"/>
                </a:solidFill>
              </a:defRPr>
            </a:pPr>
            <a:r>
              <a:rPr sz="975" b="1" spc="1">
                <a:solidFill>
                  <a:srgbClr val="1F1E1C"/>
                </a:solidFill>
              </a:rPr>
              <a:t>ROUTES</a:t>
            </a:r>
          </a:p>
        </p:txBody>
      </p:sp>
      <p:sp>
        <p:nvSpPr>
          <p:cNvPr id="19" name="s02-row-03-anchor">
            <a:extLst xmlns:a="http://schemas.openxmlformats.org/drawingml/2006/main">
              <a:ext uri="{FF2B5EF4-FFF2-40B4-BE49-F238E27FC236}">
                <a16:creationId xmlns:a16="http://schemas.microsoft.com/office/drawing/2014/main" id="{4D7135E7-E07A-4FEB-8831-3AB041A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67200"/>
            <a:ext cx="32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02-row-03-title">
            <a:extLst xmlns:a="http://schemas.openxmlformats.org/drawingml/2006/main">
              <a:ext uri="{FF2B5EF4-FFF2-40B4-BE49-F238E27FC236}">
                <a16:creationId xmlns:a16="http://schemas.microsoft.com/office/drawing/2014/main" id="{80B08CDA-6F9E-413F-B176-96627D4F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433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1E1C"/>
                </a:solidFill>
              </a:defRPr>
            </a:pPr>
            <a:r>
              <a:rPr sz="1950" b="1">
                <a:solidFill>
                  <a:srgbClr val="1F1E1C"/>
                </a:solidFill>
              </a:rPr>
              <a:t>Approach, passage, return</a:t>
            </a:r>
          </a:p>
        </p:txBody>
      </p:sp>
      <p:sp>
        <p:nvSpPr>
          <p:cNvPr id="21" name="s02-row-03-desc">
            <a:extLst xmlns:a="http://schemas.openxmlformats.org/drawingml/2006/main">
              <a:ext uri="{FF2B5EF4-FFF2-40B4-BE49-F238E27FC236}">
                <a16:creationId xmlns:a16="http://schemas.microsoft.com/office/drawing/2014/main" id="{E2BDC952-64D7-4FD1-BDEB-CAD0180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624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44F"/>
                </a:solidFill>
              </a:defRPr>
            </a:pPr>
            <a:r>
              <a:rPr sz="1200">
                <a:solidFill>
                  <a:srgbClr val="55544F"/>
                </a:solidFill>
              </a:rPr>
              <a:t>Movement that connects repeated encounters.</a:t>
            </a:r>
          </a:p>
        </p:txBody>
      </p:sp>
      <p:sp>
        <p:nvSpPr>
          <p:cNvPr id="22" name="s02-row-04-rule">
            <a:extLst xmlns:a="http://schemas.openxmlformats.org/drawingml/2006/main">
              <a:ext uri="{FF2B5EF4-FFF2-40B4-BE49-F238E27FC236}">
                <a16:creationId xmlns:a16="http://schemas.microsoft.com/office/drawing/2014/main" id="{9AD940FC-243F-45C8-8652-4BAA604E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02-row-04-number">
            <a:extLst xmlns:a="http://schemas.openxmlformats.org/drawingml/2006/main">
              <a:ext uri="{FF2B5EF4-FFF2-40B4-BE49-F238E27FC236}">
                <a16:creationId xmlns:a16="http://schemas.microsoft.com/office/drawing/2014/main" id="{5799B5D8-45DB-431F-BB6A-F6E7019F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504F4B"/>
                </a:solidFill>
              </a:defRPr>
            </a:pPr>
            <a:r>
              <a:rPr sz="900" b="1" spc="1">
                <a:solidFill>
                  <a:srgbClr val="504F4B"/>
                </a:solidFill>
              </a:rPr>
              <a:t>04</a:t>
            </a:r>
          </a:p>
        </p:txBody>
      </p:sp>
      <p:sp>
        <p:nvSpPr>
          <p:cNvPr id="24" name="s02-row-04-kind">
            <a:extLst xmlns:a="http://schemas.openxmlformats.org/drawingml/2006/main">
              <a:ext uri="{FF2B5EF4-FFF2-40B4-BE49-F238E27FC236}">
                <a16:creationId xmlns:a16="http://schemas.microsoft.com/office/drawing/2014/main" id="{B2B444C0-3E1C-45DE-9831-14068CE7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1F1E1C"/>
                </a:solidFill>
              </a:defRPr>
            </a:pPr>
            <a:r>
              <a:rPr sz="975" b="1" spc="1">
                <a:solidFill>
                  <a:srgbClr val="1F1E1C"/>
                </a:solidFill>
              </a:rPr>
              <a:t>ACCESS</a:t>
            </a:r>
          </a:p>
        </p:txBody>
      </p:sp>
      <p:sp>
        <p:nvSpPr>
          <p:cNvPr id="25" name="s02-row-04-anchor">
            <a:extLst xmlns:a="http://schemas.openxmlformats.org/drawingml/2006/main">
              <a:ext uri="{FF2B5EF4-FFF2-40B4-BE49-F238E27FC236}">
                <a16:creationId xmlns:a16="http://schemas.microsoft.com/office/drawing/2014/main" id="{B78D9571-17D5-4A9F-8B43-44EBFE2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67325"/>
            <a:ext cx="32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02-row-04-title">
            <a:extLst xmlns:a="http://schemas.openxmlformats.org/drawingml/2006/main">
              <a:ext uri="{FF2B5EF4-FFF2-40B4-BE49-F238E27FC236}">
                <a16:creationId xmlns:a16="http://schemas.microsoft.com/office/drawing/2014/main" id="{1D25C6D3-418C-4198-A976-5383135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43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1E1C"/>
                </a:solidFill>
              </a:defRPr>
            </a:pPr>
            <a:r>
              <a:rPr sz="1950" b="1">
                <a:solidFill>
                  <a:srgbClr val="1F1E1C"/>
                </a:solidFill>
              </a:rPr>
              <a:t>Affordability, presence, choice</a:t>
            </a:r>
          </a:p>
        </p:txBody>
      </p:sp>
      <p:sp>
        <p:nvSpPr>
          <p:cNvPr id="27" name="s02-row-04-desc">
            <a:extLst xmlns:a="http://schemas.openxmlformats.org/drawingml/2006/main">
              <a:ext uri="{FF2B5EF4-FFF2-40B4-BE49-F238E27FC236}">
                <a16:creationId xmlns:a16="http://schemas.microsoft.com/office/drawing/2014/main" id="{9C902860-8DE5-4E4E-A465-3359BD4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625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44F"/>
                </a:solidFill>
              </a:defRPr>
            </a:pPr>
            <a:r>
              <a:rPr sz="1200">
                <a:solidFill>
                  <a:srgbClr val="55544F"/>
                </a:solidFill>
              </a:rPr>
              <a:t>Conditions that keep participation possible.</a:t>
            </a:r>
          </a:p>
        </p:txBody>
      </p:sp>
    </p:spTree>
    <p:extLst>
      <p:ext uri="{BB962C8B-B14F-4D97-AF65-F5344CB8AC3E}">
        <p14:creationId xmlns:p14="http://schemas.microsoft.com/office/powerpoint/2010/main" val="799797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1074F6F-4F44-4031-B2D4-9AB5229E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RECOGNITION LIVES IN REPETITION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134E00-23C4-4041-8755-9ABC974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03 / 08</a:t>
            </a:r>
          </a:p>
        </p:txBody>
      </p:sp>
      <p:sp>
        <p:nvSpPr>
          <p:cNvPr id="3" name="s03-title">
            <a:extLst xmlns:a="http://schemas.openxmlformats.org/drawingml/2006/main">
              <a:ext uri="{FF2B5EF4-FFF2-40B4-BE49-F238E27FC236}">
                <a16:creationId xmlns:a16="http://schemas.microsoft.com/office/drawing/2014/main" id="{D48A6203-74C1-40BC-AECB-A305415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1E1C"/>
                </a:solidFill>
              </a:defRPr>
            </a:pPr>
            <a:r>
              <a:rPr sz="3150" b="1">
                <a:solidFill>
                  <a:srgbClr val="1F1E1C"/>
                </a:solidFill>
              </a:rPr>
              <a:t>Three everyday rituals keep recognition alive</a:t>
            </a:r>
          </a:p>
        </p:txBody>
      </p:sp>
      <p:pic>
        <p:nvPicPr>
          <p:cNvPr id="13" name="s03-scene-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44e15a1cb463f"/>
          <a:stretch xmlns:a="http://schemas.openxmlformats.org/drawingml/2006/main"/>
        </p:blipFill>
        <p:spPr>
          <a:xfrm xmlns:a="http://schemas.openxmlformats.org/drawingml/2006/main">
            <a:off x="999685" y="2095500"/>
            <a:ext cx="2420231" cy="3638550"/>
          </a:xfrm>
          <a:prstGeom xmlns:a="http://schemas.openxmlformats.org/drawingml/2006/main" prst="rect">
            <a:avLst/>
          </a:prstGeom>
        </p:spPr>
      </p:pic>
      <p:sp>
        <p:nvSpPr>
          <p:cNvPr id="5" name="s03-scene-a-caption">
            <a:extLst xmlns:a="http://schemas.openxmlformats.org/drawingml/2006/main">
              <a:ext uri="{FF2B5EF4-FFF2-40B4-BE49-F238E27FC236}">
                <a16:creationId xmlns:a16="http://schemas.microsoft.com/office/drawing/2014/main" id="{1EAD28DE-428C-4D4B-B33F-DE746504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F1E1C"/>
                </a:solidFill>
              </a:defRPr>
            </a:pPr>
            <a:r>
              <a:rPr sz="900" b="1" spc="1">
                <a:solidFill>
                  <a:srgbClr val="1F1E1C"/>
                </a:solidFill>
              </a:rPr>
              <a:t>01 · STALL</a:t>
            </a:r>
          </a:p>
        </p:txBody>
      </p:sp>
      <p:pic>
        <p:nvPicPr>
          <p:cNvPr id="15" name="s03-scene-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f7f7ec7974113"/>
          <a:stretch xmlns:a="http://schemas.openxmlformats.org/drawingml/2006/main"/>
        </p:blipFill>
        <p:spPr>
          <a:xfrm xmlns:a="http://schemas.openxmlformats.org/drawingml/2006/main">
            <a:off x="4405533" y="1847850"/>
            <a:ext cx="2428435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s03-scene-b-caption">
            <a:extLst xmlns:a="http://schemas.openxmlformats.org/drawingml/2006/main">
              <a:ext uri="{FF2B5EF4-FFF2-40B4-BE49-F238E27FC236}">
                <a16:creationId xmlns:a16="http://schemas.microsoft.com/office/drawing/2014/main" id="{6DF1C168-AF08-4785-B074-013F13C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43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F1E1C"/>
                </a:solidFill>
              </a:defRPr>
            </a:pPr>
            <a:r>
              <a:rPr sz="900" b="1" spc="1">
                <a:solidFill>
                  <a:srgbClr val="1F1E1C"/>
                </a:solidFill>
              </a:rPr>
              <a:t>02 · EXCHANGE</a:t>
            </a:r>
          </a:p>
        </p:txBody>
      </p:sp>
      <p:pic>
        <p:nvPicPr>
          <p:cNvPr id="17" name="s03-scene-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e5afa92404916"/>
          <a:stretch xmlns:a="http://schemas.openxmlformats.org/drawingml/2006/main"/>
        </p:blipFill>
        <p:spPr>
          <a:xfrm xmlns:a="http://schemas.openxmlformats.org/drawingml/2006/main">
            <a:off x="8348883" y="2095500"/>
            <a:ext cx="2428435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s03-scene-c-caption">
            <a:extLst xmlns:a="http://schemas.openxmlformats.org/drawingml/2006/main">
              <a:ext uri="{FF2B5EF4-FFF2-40B4-BE49-F238E27FC236}">
                <a16:creationId xmlns:a16="http://schemas.microsoft.com/office/drawing/2014/main" id="{20C0BE68-4D54-49E7-B958-46922E7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943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F1E1C"/>
                </a:solidFill>
              </a:defRPr>
            </a:pPr>
            <a:r>
              <a:rPr sz="900" b="1" spc="1">
                <a:solidFill>
                  <a:srgbClr val="1F1E1C"/>
                </a:solidFill>
              </a:rPr>
              <a:t>03 · PASSAGE</a:t>
            </a:r>
          </a:p>
        </p:txBody>
      </p:sp>
    </p:spTree>
    <p:extLst>
      <p:ext uri="{BB962C8B-B14F-4D97-AF65-F5344CB8AC3E}">
        <p14:creationId xmlns:p14="http://schemas.microsoft.com/office/powerpoint/2010/main" val="753217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s04-scene-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98d93f54a4cbd"/>
          <a:srcRect xmlns:a="http://schemas.openxmlformats.org/drawingml/2006/main" l="0" t="13908" r="0" b="13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05000"/>
            <a:ext cx="12192000" cy="4953000"/>
          </a:xfrm>
          <a:prstGeom xmlns:a="http://schemas.openxmlformats.org/drawingml/2006/main" prst="rect">
            <a:avLst/>
          </a:prstGeom>
        </p:spPr>
      </p:pic>
      <p:sp>
        <p:nvSpPr>
          <p:cNvPr id="2" name="s04-title-field">
            <a:extLst xmlns:a="http://schemas.openxmlformats.org/drawingml/2006/main">
              <a:ext uri="{FF2B5EF4-FFF2-40B4-BE49-F238E27FC236}">
                <a16:creationId xmlns:a16="http://schemas.microsoft.com/office/drawing/2014/main" id="{FE5E8993-874B-4AE1-9E20-FC5A42E2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F6E8A2D-F7C3-4368-8E88-3D033DF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THE TENSION IS SPATIAL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4B3651-EB7F-48CB-88D8-6537CC9C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04 / 08</a:t>
            </a:r>
          </a:p>
        </p:txBody>
      </p:sp>
      <p:sp>
        <p:nvSpPr>
          <p:cNvPr id="5" name="s04-title">
            <a:extLst xmlns:a="http://schemas.openxmlformats.org/drawingml/2006/main">
              <a:ext uri="{FF2B5EF4-FFF2-40B4-BE49-F238E27FC236}">
                <a16:creationId xmlns:a16="http://schemas.microsoft.com/office/drawing/2014/main" id="{09902938-242F-47B3-958F-C3A59AB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82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1E1C"/>
                </a:solidFill>
              </a:defRPr>
            </a:pPr>
            <a:r>
              <a:rPr sz="3150" b="1">
                <a:solidFill>
                  <a:srgbClr val="1F1E1C"/>
                </a:solidFill>
              </a:rPr>
              <a:t>A narrowed route makes every other layer fragile</a:t>
            </a:r>
          </a:p>
        </p:txBody>
      </p:sp>
      <p:sp>
        <p:nvSpPr>
          <p:cNvPr id="6" name="s04-note-contrast-field">
            <a:extLst xmlns:a="http://schemas.openxmlformats.org/drawingml/2006/main">
              <a:ext uri="{FF2B5EF4-FFF2-40B4-BE49-F238E27FC236}">
                <a16:creationId xmlns:a16="http://schemas.microsoft.com/office/drawing/2014/main" id="{95917CC1-923F-4B3C-A976-7C186E4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04-note">
            <a:extLst xmlns:a="http://schemas.openxmlformats.org/drawingml/2006/main">
              <a:ext uri="{FF2B5EF4-FFF2-40B4-BE49-F238E27FC236}">
                <a16:creationId xmlns:a16="http://schemas.microsoft.com/office/drawing/2014/main" id="{FD44012C-F14A-4307-A4FD-FF61569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731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AF9F5"/>
                </a:solidFill>
              </a:defRPr>
            </a:pPr>
            <a:r>
              <a:rPr sz="1200" b="1">
                <a:solidFill>
                  <a:srgbClr val="FAF9F5"/>
                </a:solidFill>
              </a:rPr>
              <a:t>A path can remain technically open—and still stop carrying the rituals people recognize.</a:t>
            </a:r>
          </a:p>
        </p:txBody>
      </p:sp>
    </p:spTree>
    <p:extLst>
      <p:ext uri="{BB962C8B-B14F-4D97-AF65-F5344CB8AC3E}">
        <p14:creationId xmlns:p14="http://schemas.microsoft.com/office/powerpoint/2010/main" val="717367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C5FC8CF4-71EC-4B8B-A134-8D312A1B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SIMULATED DEMONSTRATION DATA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93EA48-FBF6-45F7-84C1-63F3528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05 / 08</a:t>
            </a:r>
          </a:p>
        </p:txBody>
      </p:sp>
      <p:sp>
        <p:nvSpPr>
          <p:cNvPr id="3" name="s05-title">
            <a:extLst xmlns:a="http://schemas.openxmlformats.org/drawingml/2006/main">
              <a:ext uri="{FF2B5EF4-FFF2-40B4-BE49-F238E27FC236}">
                <a16:creationId xmlns:a16="http://schemas.microsoft.com/office/drawing/2014/main" id="{0C3E0B32-3D23-4B2F-83E0-CF70FAA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F1E1C"/>
                </a:solidFill>
              </a:defRPr>
            </a:pPr>
            <a:r>
              <a:rPr sz="3225" b="1">
                <a:solidFill>
                  <a:srgbClr val="1F1E1C"/>
                </a:solidFill>
              </a:rPr>
              <a:t>Preserve the pattern</a:t>
            </a:r>
          </a:p>
          <a:p xmlns:a="http://schemas.openxmlformats.org/drawingml/2006/main">
            <a:pPr>
              <a:defRPr sz="3225" b="1">
                <a:solidFill>
                  <a:srgbClr val="1F1E1C"/>
                </a:solidFill>
              </a:defRPr>
            </a:pPr>
            <a:r>
              <a:rPr sz="3225" b="1">
                <a:solidFill>
                  <a:srgbClr val="1F1E1C"/>
                </a:solidFill>
              </a:rPr>
              <a:t>64 to 23</a:t>
            </a:r>
          </a:p>
        </p:txBody>
      </p:sp>
      <p:sp>
        <p:nvSpPr>
          <p:cNvPr id="4" name="s05-metric">
            <a:extLst xmlns:a="http://schemas.openxmlformats.org/drawingml/2006/main">
              <a:ext uri="{FF2B5EF4-FFF2-40B4-BE49-F238E27FC236}">
                <a16:creationId xmlns:a16="http://schemas.microsoft.com/office/drawing/2014/main" id="{C3F9316A-F2F8-4477-A3DD-403E33F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5572F"/>
                </a:solidFill>
              </a:defRPr>
            </a:pPr>
            <a:r>
              <a:rPr sz="5850" b="1">
                <a:solidFill>
                  <a:srgbClr val="F5572F"/>
                </a:solidFill>
              </a:rPr>
              <a:t>+41</a:t>
            </a:r>
          </a:p>
        </p:txBody>
      </p:sp>
      <p:sp>
        <p:nvSpPr>
          <p:cNvPr id="5" name="s05-metric-unit">
            <a:extLst xmlns:a="http://schemas.openxmlformats.org/drawingml/2006/main">
              <a:ext uri="{FF2B5EF4-FFF2-40B4-BE49-F238E27FC236}">
                <a16:creationId xmlns:a16="http://schemas.microsoft.com/office/drawing/2014/main" id="{8F349651-2781-4673-A864-7FAA198F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1E1C"/>
                </a:solidFill>
              </a:defRPr>
            </a:pPr>
            <a:r>
              <a:rPr sz="1350" b="1">
                <a:solidFill>
                  <a:srgbClr val="1F1E1C"/>
                </a:solidFill>
              </a:rPr>
              <a:t>percentage points</a:t>
            </a:r>
          </a:p>
        </p:txBody>
      </p:sp>
      <p:sp>
        <p:nvSpPr>
          <p:cNvPr id="6" name="s05-explain">
            <a:extLst xmlns:a="http://schemas.openxmlformats.org/drawingml/2006/main">
              <a:ext uri="{FF2B5EF4-FFF2-40B4-BE49-F238E27FC236}">
                <a16:creationId xmlns:a16="http://schemas.microsoft.com/office/drawing/2014/main" id="{9EE7FC5A-C2D9-4805-94E6-A87AA96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F4E49"/>
                </a:solidFill>
              </a:defRPr>
            </a:pPr>
            <a:r>
              <a:rPr sz="1425">
                <a:solidFill>
                  <a:srgbClr val="4F4E49"/>
                </a:solidFill>
              </a:rPr>
              <a:t>One mark equals one percentage point. The orange cluster turns the threshold into evidence.</a:t>
            </a:r>
          </a:p>
        </p:txBody>
      </p:sp>
      <p:sp>
        <p:nvSpPr>
          <p:cNvPr id="7" name="s05-footnote">
            <a:extLst xmlns:a="http://schemas.openxmlformats.org/drawingml/2006/main">
              <a:ext uri="{FF2B5EF4-FFF2-40B4-BE49-F238E27FC236}">
                <a16:creationId xmlns:a16="http://schemas.microsoft.com/office/drawing/2014/main" id="{259B54AA-0075-46DB-999F-F13C0B97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6761"/>
                </a:solidFill>
              </a:defRPr>
            </a:pPr>
            <a:r>
              <a:rPr sz="825">
                <a:solidFill>
                  <a:srgbClr val="686761"/>
                </a:solidFill>
              </a:rPr>
              <a:t>Illustrative values only: preserve 64%, redevelop 23%, undecided 13%.</a:t>
            </a:r>
          </a:p>
        </p:txBody>
      </p:sp>
      <p:sp>
        <p:nvSpPr>
          <p:cNvPr id="8" name="s05-chart-frame">
            <a:extLst xmlns:a="http://schemas.openxmlformats.org/drawingml/2006/main">
              <a:ext uri="{FF2B5EF4-FFF2-40B4-BE49-F238E27FC236}">
                <a16:creationId xmlns:a16="http://schemas.microsoft.com/office/drawing/2014/main" id="{FBB142A2-79F9-46D0-94F6-83C8BDEB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67437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D4D3CC"/>
            </a:solidFill>
            <a:prstDash val="solid"/>
          </a:ln>
        </p:spPr>
      </p:sp>
      <p:sp>
        <p:nvSpPr>
          <p:cNvPr id="9" name="s05-chart-label">
            <a:extLst xmlns:a="http://schemas.openxmlformats.org/drawingml/2006/main">
              <a:ext uri="{FF2B5EF4-FFF2-40B4-BE49-F238E27FC236}">
                <a16:creationId xmlns:a16="http://schemas.microsoft.com/office/drawing/2014/main" id="{828D75C1-5F97-4293-BAAC-113851D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00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L14 · HUNDRED FIELD / WIRE</a:t>
            </a:r>
          </a:p>
        </p:txBody>
      </p:sp>
      <p:pic>
        <p:nvPicPr>
          <p:cNvPr id="20" name="s05-scene-a-lieflat-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4e2e414d74210"/>
          <a:stretch xmlns:a="http://schemas.openxmlformats.org/drawingml/2006/main"/>
        </p:blipFill>
        <p:spPr>
          <a:xfrm xmlns:a="http://schemas.openxmlformats.org/drawingml/2006/main">
            <a:off x="5537242" y="1466850"/>
            <a:ext cx="5194216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35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7F5F556-808E-4397-9558-05956629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WHAT SHOULD CHANGE PROTECT?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EF7A4F-9BCE-4EB4-A895-59D22711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06 / 08</a:t>
            </a:r>
          </a:p>
        </p:txBody>
      </p:sp>
      <p:sp>
        <p:nvSpPr>
          <p:cNvPr id="3" name="s06-title">
            <a:extLst xmlns:a="http://schemas.openxmlformats.org/drawingml/2006/main">
              <a:ext uri="{FF2B5EF4-FFF2-40B4-BE49-F238E27FC236}">
                <a16:creationId xmlns:a16="http://schemas.microsoft.com/office/drawing/2014/main" id="{86DE505A-5A4B-4F86-817A-74049C80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09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1E1C"/>
                </a:solidFill>
              </a:defRPr>
            </a:pPr>
            <a:r>
              <a:rPr sz="3150" b="1">
                <a:solidFill>
                  <a:srgbClr val="1F1E1C"/>
                </a:solidFill>
              </a:rPr>
              <a:t>Access priorities outrank maximum footprint</a:t>
            </a:r>
          </a:p>
        </p:txBody>
      </p:sp>
      <p:sp>
        <p:nvSpPr>
          <p:cNvPr id="4" name="s06-chart-frame">
            <a:extLst xmlns:a="http://schemas.openxmlformats.org/drawingml/2006/main">
              <a:ext uri="{FF2B5EF4-FFF2-40B4-BE49-F238E27FC236}">
                <a16:creationId xmlns:a16="http://schemas.microsoft.com/office/drawing/2014/main" id="{969D7FA3-F553-4329-BFDA-3046D013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543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D4D3CC"/>
            </a:solidFill>
            <a:prstDash val="solid"/>
          </a:ln>
        </p:spPr>
      </p:sp>
      <p:sp>
        <p:nvSpPr>
          <p:cNvPr id="5" name="s06-chart-label">
            <a:extLst xmlns:a="http://schemas.openxmlformats.org/drawingml/2006/main">
              <a:ext uri="{FF2B5EF4-FFF2-40B4-BE49-F238E27FC236}">
                <a16:creationId xmlns:a16="http://schemas.microsoft.com/office/drawing/2014/main" id="{83322DC9-C139-4976-87E6-B00EA66C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L15 · BALLOT TALLY / WIRE</a:t>
            </a:r>
          </a:p>
        </p:txBody>
      </p:sp>
      <p:pic>
        <p:nvPicPr>
          <p:cNvPr id="16" name="s06-scene-a-lieflat-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a7992540a4b4a"/>
          <a:stretch xmlns:a="http://schemas.openxmlformats.org/drawingml/2006/main"/>
        </p:blipFill>
        <p:spPr>
          <a:xfrm xmlns:a="http://schemas.openxmlformats.org/drawingml/2006/main">
            <a:off x="1527175" y="2324100"/>
            <a:ext cx="586105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s06-callout">
            <a:extLst xmlns:a="http://schemas.openxmlformats.org/drawingml/2006/main">
              <a:ext uri="{FF2B5EF4-FFF2-40B4-BE49-F238E27FC236}">
                <a16:creationId xmlns:a16="http://schemas.microsoft.com/office/drawing/2014/main" id="{E286AE9C-E5F4-45A1-B9EE-4EC5D2A0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638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5572F"/>
                </a:solidFill>
              </a:defRPr>
            </a:pPr>
            <a:r>
              <a:rPr sz="5700" b="1">
                <a:solidFill>
                  <a:srgbClr val="F5572F"/>
                </a:solidFill>
              </a:rPr>
              <a:t>72</a:t>
            </a:r>
          </a:p>
        </p:txBody>
      </p:sp>
      <p:sp>
        <p:nvSpPr>
          <p:cNvPr id="8" name="s06-callout-label">
            <a:extLst xmlns:a="http://schemas.openxmlformats.org/drawingml/2006/main">
              <a:ext uri="{FF2B5EF4-FFF2-40B4-BE49-F238E27FC236}">
                <a16:creationId xmlns:a16="http://schemas.microsoft.com/office/drawing/2014/main" id="{CC040BEB-5D0A-46B4-8FEE-833E5A9B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1E1C"/>
                </a:solidFill>
              </a:defRPr>
            </a:pPr>
            <a:r>
              <a:rPr sz="1500" b="1">
                <a:solidFill>
                  <a:srgbClr val="1F1E1C"/>
                </a:solidFill>
              </a:rPr>
              <a:t>affordable stalls</a:t>
            </a:r>
          </a:p>
        </p:txBody>
      </p:sp>
      <p:sp>
        <p:nvSpPr>
          <p:cNvPr id="9" name="s06-note">
            <a:extLst xmlns:a="http://schemas.openxmlformats.org/drawingml/2006/main">
              <a:ext uri="{FF2B5EF4-FFF2-40B4-BE49-F238E27FC236}">
                <a16:creationId xmlns:a16="http://schemas.microsoft.com/office/drawing/2014/main" id="{EE03139D-6956-4BD0-8477-7EF4DFD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4E49"/>
                </a:solidFill>
              </a:defRPr>
            </a:pPr>
            <a:r>
              <a:rPr sz="1350">
                <a:solidFill>
                  <a:srgbClr val="4F4E49"/>
                </a:solidFill>
              </a:rPr>
              <a:t>The strongest request is not stasis. It is continued participation.</a:t>
            </a:r>
          </a:p>
        </p:txBody>
      </p:sp>
      <p:sp>
        <p:nvSpPr>
          <p:cNvPr id="10" name="s06-footnote">
            <a:extLst xmlns:a="http://schemas.openxmlformats.org/drawingml/2006/main">
              <a:ext uri="{FF2B5EF4-FFF2-40B4-BE49-F238E27FC236}">
                <a16:creationId xmlns:a16="http://schemas.microsoft.com/office/drawing/2014/main" id="{86AE33BB-38C2-43C8-993F-9D214E65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578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6761"/>
                </a:solidFill>
              </a:defRPr>
            </a:pPr>
            <a:r>
              <a:rPr sz="825">
                <a:solidFill>
                  <a:srgbClr val="686761"/>
                </a:solidFill>
              </a:rPr>
              <a:t>Illustrative tally only; values are simulated for this deck.</a:t>
            </a:r>
          </a:p>
        </p:txBody>
      </p:sp>
    </p:spTree>
    <p:extLst>
      <p:ext uri="{BB962C8B-B14F-4D97-AF65-F5344CB8AC3E}">
        <p14:creationId xmlns:p14="http://schemas.microsoft.com/office/powerpoint/2010/main" val="156918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09D9E73-DC69-4349-9646-A3EE04E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A DECISION RULE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66B668-E26F-4936-870B-4D627729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07 / 08</a:t>
            </a:r>
          </a:p>
        </p:txBody>
      </p:sp>
      <p:sp>
        <p:nvSpPr>
          <p:cNvPr id="3" name="s07-title">
            <a:extLst xmlns:a="http://schemas.openxmlformats.org/drawingml/2006/main">
              <a:ext uri="{FF2B5EF4-FFF2-40B4-BE49-F238E27FC236}">
                <a16:creationId xmlns:a16="http://schemas.microsoft.com/office/drawing/2014/main" id="{2376EE4D-09CA-4685-AC41-0F704E59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667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1E1C"/>
                </a:solidFill>
              </a:defRPr>
            </a:pPr>
            <a:r>
              <a:rPr sz="3150" b="1">
                <a:solidFill>
                  <a:srgbClr val="1F1E1C"/>
                </a:solidFill>
              </a:rPr>
              <a:t>Change is viable when it protects rhythm, access,</a:t>
            </a:r>
          </a:p>
          <a:p xmlns:a="http://schemas.openxmlformats.org/drawingml/2006/main">
            <a:pPr>
              <a:defRPr sz="3150" b="1">
                <a:solidFill>
                  <a:srgbClr val="1F1E1C"/>
                </a:solidFill>
              </a:defRPr>
            </a:pPr>
            <a:r>
              <a:rPr sz="3150" b="1">
                <a:solidFill>
                  <a:srgbClr val="1F1E1C"/>
                </a:solidFill>
              </a:rPr>
              <a:t>and adaptation</a:t>
            </a:r>
          </a:p>
        </p:txBody>
      </p:sp>
      <p:sp>
        <p:nvSpPr>
          <p:cNvPr id="4" name="s07-station-1-number">
            <a:extLst xmlns:a="http://schemas.openxmlformats.org/drawingml/2006/main">
              <a:ext uri="{FF2B5EF4-FFF2-40B4-BE49-F238E27FC236}">
                <a16:creationId xmlns:a16="http://schemas.microsoft.com/office/drawing/2014/main" id="{49F17C1F-16A1-4E92-B477-7323641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01 / RHYTHM</a:t>
            </a:r>
          </a:p>
        </p:txBody>
      </p:sp>
      <p:sp>
        <p:nvSpPr>
          <p:cNvPr id="5" name="s07-station-1-title">
            <a:extLst xmlns:a="http://schemas.openxmlformats.org/drawingml/2006/main">
              <a:ext uri="{FF2B5EF4-FFF2-40B4-BE49-F238E27FC236}">
                <a16:creationId xmlns:a16="http://schemas.microsoft.com/office/drawing/2014/main" id="{5F38B0DE-F217-473A-96A4-01895577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1E1C"/>
                </a:solidFill>
              </a:defRPr>
            </a:pPr>
            <a:r>
              <a:rPr sz="2175" b="1">
                <a:solidFill>
                  <a:srgbClr val="1F1E1C"/>
                </a:solidFill>
              </a:rPr>
              <a:t>Protect repetition</a:t>
            </a:r>
          </a:p>
        </p:txBody>
      </p:sp>
      <p:sp>
        <p:nvSpPr>
          <p:cNvPr id="6" name="s07-station-1-body">
            <a:extLst xmlns:a="http://schemas.openxmlformats.org/drawingml/2006/main">
              <a:ext uri="{FF2B5EF4-FFF2-40B4-BE49-F238E27FC236}">
                <a16:creationId xmlns:a16="http://schemas.microsoft.com/office/drawing/2014/main" id="{3BEA2903-7F96-4243-B991-269B6042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44F"/>
                </a:solidFill>
              </a:defRPr>
            </a:pPr>
            <a:r>
              <a:rPr sz="1125">
                <a:solidFill>
                  <a:srgbClr val="55544F"/>
                </a:solidFill>
              </a:rPr>
              <a:t>Retain the cues and sequences through which daily rituals remain recognizable.</a:t>
            </a:r>
          </a:p>
        </p:txBody>
      </p:sp>
      <p:sp>
        <p:nvSpPr>
          <p:cNvPr id="7" name="s07-station-2-number">
            <a:extLst xmlns:a="http://schemas.openxmlformats.org/drawingml/2006/main">
              <a:ext uri="{FF2B5EF4-FFF2-40B4-BE49-F238E27FC236}">
                <a16:creationId xmlns:a16="http://schemas.microsoft.com/office/drawing/2014/main" id="{D3C75ED7-DBD3-4290-9625-8F86F25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02 / ACCESS</a:t>
            </a:r>
          </a:p>
        </p:txBody>
      </p:sp>
      <p:sp>
        <p:nvSpPr>
          <p:cNvPr id="8" name="s07-station-2-title">
            <a:extLst xmlns:a="http://schemas.openxmlformats.org/drawingml/2006/main">
              <a:ext uri="{FF2B5EF4-FFF2-40B4-BE49-F238E27FC236}">
                <a16:creationId xmlns:a16="http://schemas.microsoft.com/office/drawing/2014/main" id="{CE847710-7369-4E69-A9EA-DF512390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1E1C"/>
                </a:solidFill>
              </a:defRPr>
            </a:pPr>
            <a:r>
              <a:rPr sz="2175" b="1">
                <a:solidFill>
                  <a:srgbClr val="1F1E1C"/>
                </a:solidFill>
              </a:rPr>
              <a:t>Keep participation</a:t>
            </a:r>
          </a:p>
          <a:p xmlns:a="http://schemas.openxmlformats.org/drawingml/2006/main">
            <a:pPr>
              <a:defRPr sz="2175" b="1">
                <a:solidFill>
                  <a:srgbClr val="1F1E1C"/>
                </a:solidFill>
              </a:defRPr>
            </a:pPr>
            <a:r>
              <a:rPr sz="2175" b="1">
                <a:solidFill>
                  <a:srgbClr val="1F1E1C"/>
                </a:solidFill>
              </a:rPr>
              <a:t>possible</a:t>
            </a:r>
          </a:p>
        </p:txBody>
      </p:sp>
      <p:sp>
        <p:nvSpPr>
          <p:cNvPr id="9" name="s07-station-2-body">
            <a:extLst xmlns:a="http://schemas.openxmlformats.org/drawingml/2006/main">
              <a:ext uri="{FF2B5EF4-FFF2-40B4-BE49-F238E27FC236}">
                <a16:creationId xmlns:a16="http://schemas.microsoft.com/office/drawing/2014/main" id="{00E7BC75-D1DA-4174-9739-1CFB5D99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44F"/>
                </a:solidFill>
              </a:defRPr>
            </a:pPr>
            <a:r>
              <a:rPr sz="1125">
                <a:solidFill>
                  <a:srgbClr val="55544F"/>
                </a:solidFill>
              </a:rPr>
              <a:t>Protect affordable stalls, vendor presence, and routes people can still use.</a:t>
            </a:r>
          </a:p>
        </p:txBody>
      </p:sp>
      <p:sp>
        <p:nvSpPr>
          <p:cNvPr id="10" name="s07-station-3-number">
            <a:extLst xmlns:a="http://schemas.openxmlformats.org/drawingml/2006/main">
              <a:ext uri="{FF2B5EF4-FFF2-40B4-BE49-F238E27FC236}">
                <a16:creationId xmlns:a16="http://schemas.microsoft.com/office/drawing/2014/main" id="{F55C18CC-6732-4E4F-B2F7-7B6B45C7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03 / ADAPTATION</a:t>
            </a:r>
          </a:p>
        </p:txBody>
      </p:sp>
      <p:sp>
        <p:nvSpPr>
          <p:cNvPr id="11" name="s07-station-3-title">
            <a:extLst xmlns:a="http://schemas.openxmlformats.org/drawingml/2006/main">
              <a:ext uri="{FF2B5EF4-FFF2-40B4-BE49-F238E27FC236}">
                <a16:creationId xmlns:a16="http://schemas.microsoft.com/office/drawing/2014/main" id="{E964C8A4-A9B8-48F2-A9E5-2E9CA1A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1E1C"/>
                </a:solidFill>
              </a:defRPr>
            </a:pPr>
            <a:r>
              <a:rPr sz="2175" b="1">
                <a:solidFill>
                  <a:srgbClr val="1F1E1C"/>
                </a:solidFill>
              </a:rPr>
              <a:t>Permit visible</a:t>
            </a:r>
          </a:p>
          <a:p xmlns:a="http://schemas.openxmlformats.org/drawingml/2006/main">
            <a:pPr>
              <a:defRPr sz="2175" b="1">
                <a:solidFill>
                  <a:srgbClr val="1F1E1C"/>
                </a:solidFill>
              </a:defRPr>
            </a:pPr>
            <a:r>
              <a:rPr sz="2175" b="1">
                <a:solidFill>
                  <a:srgbClr val="1F1E1C"/>
                </a:solidFill>
              </a:rPr>
              <a:t>change</a:t>
            </a:r>
          </a:p>
        </p:txBody>
      </p:sp>
      <p:sp>
        <p:nvSpPr>
          <p:cNvPr id="12" name="s07-station-3-body">
            <a:extLst xmlns:a="http://schemas.openxmlformats.org/drawingml/2006/main">
              <a:ext uri="{FF2B5EF4-FFF2-40B4-BE49-F238E27FC236}">
                <a16:creationId xmlns:a16="http://schemas.microsoft.com/office/drawing/2014/main" id="{8CFD3D8E-7E23-4BCF-A870-19DB98A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719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44F"/>
                </a:solidFill>
              </a:defRPr>
            </a:pPr>
            <a:r>
              <a:rPr sz="1125">
                <a:solidFill>
                  <a:srgbClr val="55544F"/>
                </a:solidFill>
              </a:rPr>
              <a:t>Upgrade safety and infrastructure without erasing the pattern that carries memory.</a:t>
            </a:r>
          </a:p>
        </p:txBody>
      </p:sp>
      <p:sp>
        <p:nvSpPr>
          <p:cNvPr id="13" name="s07-anchor-path-a">
            <a:extLst xmlns:a="http://schemas.openxmlformats.org/drawingml/2006/main">
              <a:ext uri="{FF2B5EF4-FFF2-40B4-BE49-F238E27FC236}">
                <a16:creationId xmlns:a16="http://schemas.microsoft.com/office/drawing/2014/main" id="{26A33CA3-1254-4321-98DB-185C6414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2800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07-anchor-path-b">
            <a:extLst xmlns:a="http://schemas.openxmlformats.org/drawingml/2006/main">
              <a:ext uri="{FF2B5EF4-FFF2-40B4-BE49-F238E27FC236}">
                <a16:creationId xmlns:a16="http://schemas.microsoft.com/office/drawing/2014/main" id="{B40F8EFF-C9F3-4E1F-97DE-2AE3106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626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07-anchor-path-c">
            <a:extLst xmlns:a="http://schemas.openxmlformats.org/drawingml/2006/main">
              <a:ext uri="{FF2B5EF4-FFF2-40B4-BE49-F238E27FC236}">
                <a16:creationId xmlns:a16="http://schemas.microsoft.com/office/drawing/2014/main" id="{198471F4-36C7-4CA4-ADFE-3391D4EB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9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572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4044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0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s08-scene-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11a01d4844ebc"/>
          <a:srcRect xmlns:a="http://schemas.openxmlformats.org/drawingml/2006/main" l="0" t="14047" r="0" b="14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24050"/>
            <a:ext cx="12192000" cy="4933950"/>
          </a:xfrm>
          <a:prstGeom xmlns:a="http://schemas.openxmlformats.org/drawingml/2006/main" prst="rect">
            <a:avLst/>
          </a:prstGeom>
        </p:spPr>
      </p:pic>
      <p:sp>
        <p:nvSpPr>
          <p:cNvPr id="2" name="s08-title-field">
            <a:extLst xmlns:a="http://schemas.openxmlformats.org/drawingml/2006/main">
              <a:ext uri="{FF2B5EF4-FFF2-40B4-BE49-F238E27FC236}">
                <a16:creationId xmlns:a16="http://schemas.microsoft.com/office/drawing/2014/main" id="{FC1230B3-E013-4830-9C9A-21DCCC3D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E4B7217-19B0-4A4E-BB99-0A73639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504F4B"/>
                </a:solidFill>
              </a:defRPr>
            </a:pPr>
            <a:r>
              <a:rPr sz="900" b="1" spc="2">
                <a:solidFill>
                  <a:srgbClr val="504F4B"/>
                </a:solidFill>
              </a:rPr>
              <a:t>A CLOSING PROPOSITION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B381A5-9C2B-49FB-B512-6E45FF4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34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spc="1">
                <a:solidFill>
                  <a:srgbClr val="504F4B"/>
                </a:solidFill>
              </a:defRPr>
            </a:pPr>
            <a:r>
              <a:rPr sz="825" b="1" spc="1">
                <a:solidFill>
                  <a:srgbClr val="504F4B"/>
                </a:solidFill>
              </a:rPr>
              <a:t>08 / 08</a:t>
            </a:r>
          </a:p>
        </p:txBody>
      </p:sp>
      <p:sp>
        <p:nvSpPr>
          <p:cNvPr id="5" name="s08-title">
            <a:extLst xmlns:a="http://schemas.openxmlformats.org/drawingml/2006/main">
              <a:ext uri="{FF2B5EF4-FFF2-40B4-BE49-F238E27FC236}">
                <a16:creationId xmlns:a16="http://schemas.microsoft.com/office/drawing/2014/main" id="{28C2DAB7-3B71-4390-9F9B-2A9E2CD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66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F1E1C"/>
                </a:solidFill>
              </a:defRPr>
            </a:pPr>
            <a:r>
              <a:rPr sz="3225" b="1">
                <a:solidFill>
                  <a:srgbClr val="1F1E1C"/>
                </a:solidFill>
              </a:rPr>
              <a:t>Keep the threshold open enough for memory to move</a:t>
            </a:r>
          </a:p>
        </p:txBody>
      </p:sp>
      <p:sp>
        <p:nvSpPr>
          <p:cNvPr id="6" name="s08-credit-field">
            <a:extLst xmlns:a="http://schemas.openxmlformats.org/drawingml/2006/main">
              <a:ext uri="{FF2B5EF4-FFF2-40B4-BE49-F238E27FC236}">
                <a16:creationId xmlns:a16="http://schemas.microsoft.com/office/drawing/2014/main" id="{CBC18514-F826-4DD3-B245-FEA745DF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9525">
            <a:solidFill>
              <a:srgbClr val="9C9B95"/>
            </a:solidFill>
            <a:prstDash val="solid"/>
          </a:ln>
        </p:spPr>
      </p:sp>
      <p:sp>
        <p:nvSpPr>
          <p:cNvPr id="7" name="s08-credits-left">
            <a:extLst xmlns:a="http://schemas.openxmlformats.org/drawingml/2006/main">
              <a:ext uri="{FF2B5EF4-FFF2-40B4-BE49-F238E27FC236}">
                <a16:creationId xmlns:a16="http://schemas.microsoft.com/office/drawing/2014/main" id="{49D10FE0-87F2-4BAC-9762-2D77C605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1F1E1C"/>
                </a:solidFill>
              </a:defRPr>
            </a:pPr>
            <a:r>
              <a:rPr sz="713">
                <a:solidFill>
                  <a:srgbClr val="1F1E1C"/>
                </a:solidFill>
              </a:rPr>
              <a:t>VISUAL SYSTEMS · Zine art direction: Zeejay0. Lieflat Charts: created at Moxt, distributed by larashero3-dotcom; L14 Hundred Field + L15 Ballot Tally, Wire; PolyForm Noncommercial 1.0.0.</a:t>
            </a:r>
          </a:p>
        </p:txBody>
      </p:sp>
      <p:sp>
        <p:nvSpPr>
          <p:cNvPr id="8" name="s08-credits-right">
            <a:extLst xmlns:a="http://schemas.openxmlformats.org/drawingml/2006/main">
              <a:ext uri="{FF2B5EF4-FFF2-40B4-BE49-F238E27FC236}">
                <a16:creationId xmlns:a16="http://schemas.microsoft.com/office/drawing/2014/main" id="{277A9CD1-5F17-4203-B1F4-7CE48DEC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19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1F1E1C"/>
                </a:solidFill>
              </a:defRPr>
            </a:pPr>
            <a:r>
              <a:rPr sz="713">
                <a:solidFill>
                  <a:srgbClr val="1F1E1C"/>
                </a:solidFill>
              </a:rPr>
              <a:t>PRODUCTION · Original illustrations: OpenAI image generation. PPTX workflow: OpenAI Presentations. Simulated data, not a real survey. No external factual claims.</a:t>
            </a:r>
          </a:p>
        </p:txBody>
      </p:sp>
    </p:spTree>
    <p:extLst>
      <p:ext uri="{BB962C8B-B14F-4D97-AF65-F5344CB8AC3E}">
        <p14:creationId xmlns:p14="http://schemas.microsoft.com/office/powerpoint/2010/main" val="1960517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2026-08-18T18:34:59.3550000Z</dcterms:created>
  <dcterms:modified xsi:type="dcterms:W3CDTF">2026-08-18T18:34:59.3550000Z</dcterms:modified>
</coreProperties>
</file>